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910040"/>
            <a:ext cx="9445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Flipkart Sales Analysis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040516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data analytics project exploring sales performance, profitability, customer behavior, and regional trends across Flipkart's product catalog.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6" y="6801298"/>
            <a:ext cx="3394767" cy="561384"/>
            <a:chOff x="0" y="0"/>
            <a:chExt cx="4526356" cy="748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6280" cy="748411"/>
            </a:xfrm>
            <a:custGeom>
              <a:avLst/>
              <a:gdLst/>
              <a:ahLst/>
              <a:cxnLst/>
              <a:rect r="r" b="b" t="t" l="l"/>
              <a:pathLst>
                <a:path h="748411" w="4526280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4397121" y="0"/>
                  </a:lnTo>
                  <a:cubicBezTo>
                    <a:pt x="4468495" y="0"/>
                    <a:pt x="4526280" y="57912"/>
                    <a:pt x="4526280" y="129159"/>
                  </a:cubicBezTo>
                  <a:lnTo>
                    <a:pt x="4526280" y="619252"/>
                  </a:lnTo>
                  <a:cubicBezTo>
                    <a:pt x="4526280" y="690626"/>
                    <a:pt x="4468368" y="748411"/>
                    <a:pt x="4397121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837" r="-1" b="-67851"/>
              </a:stretch>
            </a:blipFill>
            <a:ln w="9526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029870" y="6833892"/>
            <a:ext cx="394037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DATA ANALYTICS PROJECT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72402" y="6801298"/>
            <a:ext cx="3398787" cy="561384"/>
            <a:chOff x="0" y="0"/>
            <a:chExt cx="4531716" cy="7485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31614" cy="748411"/>
            </a:xfrm>
            <a:custGeom>
              <a:avLst/>
              <a:gdLst/>
              <a:ahLst/>
              <a:cxnLst/>
              <a:rect r="r" b="b" t="t" l="l"/>
              <a:pathLst>
                <a:path h="748411" w="4531614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4402455" y="0"/>
                  </a:lnTo>
                  <a:cubicBezTo>
                    <a:pt x="4473829" y="0"/>
                    <a:pt x="4531614" y="57912"/>
                    <a:pt x="4531614" y="129159"/>
                  </a:cubicBezTo>
                  <a:lnTo>
                    <a:pt x="4531614" y="619252"/>
                  </a:lnTo>
                  <a:cubicBezTo>
                    <a:pt x="4531614" y="690626"/>
                    <a:pt x="4473702" y="748411"/>
                    <a:pt x="4402455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977" r="-2" b="-67990"/>
              </a:stretch>
            </a:blipFill>
            <a:ln w="9526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556806" y="6833892"/>
            <a:ext cx="394438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CREATED BY NAVEEN SAINI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55459"/>
            <a:ext cx="80026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504627"/>
            <a:ext cx="6446196" cy="3652838"/>
            <a:chOff x="0" y="0"/>
            <a:chExt cx="8594928" cy="487045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94979" cy="4870450"/>
            </a:xfrm>
            <a:custGeom>
              <a:avLst/>
              <a:gdLst/>
              <a:ahLst/>
              <a:cxnLst/>
              <a:rect r="r" b="b" t="t" l="l"/>
              <a:pathLst>
                <a:path h="4870450" w="8594979">
                  <a:moveTo>
                    <a:pt x="0" y="0"/>
                  </a:moveTo>
                  <a:lnTo>
                    <a:pt x="8594979" y="0"/>
                  </a:lnTo>
                  <a:lnTo>
                    <a:pt x="8594979" y="4870450"/>
                  </a:lnTo>
                  <a:lnTo>
                    <a:pt x="0" y="4870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" r="0" b="-4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139713" y="3338065"/>
            <a:ext cx="9165431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analyzes Flipkart sales data to build an interactive dashboard supporting data-driven business decisions — covering sales performance, profitability, customer behavior, product trends, and regional insights.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54138" y="6795345"/>
            <a:ext cx="5283546" cy="2617146"/>
          </a:xfrm>
          <a:custGeom>
            <a:avLst/>
            <a:gdLst/>
            <a:ahLst/>
            <a:cxnLst/>
            <a:rect r="r" b="b" t="t" l="l"/>
            <a:pathLst>
              <a:path h="2617146" w="5283546">
                <a:moveTo>
                  <a:pt x="0" y="0"/>
                </a:moveTo>
                <a:lnTo>
                  <a:pt x="5283546" y="0"/>
                </a:lnTo>
                <a:lnTo>
                  <a:pt x="5283546" y="2617146"/>
                </a:lnTo>
                <a:lnTo>
                  <a:pt x="0" y="261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28150" y="710743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150" y="7644260"/>
            <a:ext cx="44879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1,000 orders across 5 product categories and 4 regions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483106" y="6795345"/>
            <a:ext cx="5283546" cy="2617146"/>
          </a:xfrm>
          <a:custGeom>
            <a:avLst/>
            <a:gdLst/>
            <a:ahLst/>
            <a:cxnLst/>
            <a:rect r="r" b="b" t="t" l="l"/>
            <a:pathLst>
              <a:path h="2617146" w="5283546">
                <a:moveTo>
                  <a:pt x="0" y="0"/>
                </a:moveTo>
                <a:lnTo>
                  <a:pt x="5283546" y="0"/>
                </a:lnTo>
                <a:lnTo>
                  <a:pt x="5283546" y="2617146"/>
                </a:lnTo>
                <a:lnTo>
                  <a:pt x="0" y="261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57117" y="710743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7117" y="7644260"/>
            <a:ext cx="44879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Microsoft Excel — Pivot Tables, Pivot Charts &amp; Dashboard Design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12063" y="6795345"/>
            <a:ext cx="5283546" cy="2617146"/>
          </a:xfrm>
          <a:custGeom>
            <a:avLst/>
            <a:gdLst/>
            <a:ahLst/>
            <a:cxnLst/>
            <a:rect r="r" b="b" t="t" l="l"/>
            <a:pathLst>
              <a:path h="2617146" w="5283546">
                <a:moveTo>
                  <a:pt x="0" y="0"/>
                </a:moveTo>
                <a:lnTo>
                  <a:pt x="5283546" y="0"/>
                </a:lnTo>
                <a:lnTo>
                  <a:pt x="5283546" y="2617146"/>
                </a:lnTo>
                <a:lnTo>
                  <a:pt x="0" y="261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" r="0" b="-1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86084" y="710743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6084" y="7644260"/>
            <a:ext cx="44879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dashboard with KPIs, trend visuals, and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01826" y="824513"/>
            <a:ext cx="6452149" cy="71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1826" y="1843678"/>
            <a:ext cx="15284206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Eight analytical objectives guided this project — from tracking revenue and profit trends to understanding payment behavior and customer satisfaction.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501826" y="2707481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3"/>
                </a:lnTo>
                <a:lnTo>
                  <a:pt x="0" y="44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4" t="0" r="-106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1826" y="3357115"/>
            <a:ext cx="3623967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Sales &amp; Profit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1826" y="3778301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 overall revenue and profitability across the dataset.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52052" y="2707481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3"/>
                </a:lnTo>
                <a:lnTo>
                  <a:pt x="0" y="4429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52052" y="3357115"/>
            <a:ext cx="3514725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Monthly Trend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2052" y="3778301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 seasonal patterns and peak sales periods.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501826" y="4477941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01826" y="5127574"/>
            <a:ext cx="3443583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Top-Performing Products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1826" y="5548760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Surface highest-revenue SKUs across categories.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52052" y="4477941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52052" y="5127574"/>
            <a:ext cx="2768794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Category 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2052" y="5548760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Compare performance across product categories.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501826" y="6248400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01826" y="6898034"/>
            <a:ext cx="3688404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Regional Sales Comparison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1826" y="7319220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Analyze contribution from North, South, East, and West regions.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52052" y="6248400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9361" r="0" b="-39361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52052" y="6898034"/>
            <a:ext cx="2768794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Customer Ratings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52052" y="7319220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Assess satisfaction levels by category.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1501826" y="8018859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3"/>
                </a:lnTo>
                <a:lnTo>
                  <a:pt x="0" y="4429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8086" t="0" r="-18083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01826" y="8668493"/>
            <a:ext cx="289917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Payment Preferences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1826" y="9089679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 which payment methods customers prefer.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252052" y="8018859"/>
            <a:ext cx="442912" cy="442912"/>
          </a:xfrm>
          <a:custGeom>
            <a:avLst/>
            <a:gdLst/>
            <a:ahLst/>
            <a:cxnLst/>
            <a:rect r="r" b="b" t="t" l="l"/>
            <a:pathLst>
              <a:path h="442912" w="442912">
                <a:moveTo>
                  <a:pt x="0" y="0"/>
                </a:moveTo>
                <a:lnTo>
                  <a:pt x="442912" y="0"/>
                </a:lnTo>
                <a:lnTo>
                  <a:pt x="442912" y="442913"/>
                </a:lnTo>
                <a:lnTo>
                  <a:pt x="0" y="4429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9148" r="0" b="-1914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252052" y="8668493"/>
            <a:ext cx="2768794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Actionable Insights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52052" y="9089679"/>
            <a:ext cx="7533980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Translate findings into strategic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978" y="827637"/>
            <a:ext cx="7361930" cy="7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&amp;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978" y="1992954"/>
            <a:ext cx="37385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Fields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44216" y="2553148"/>
            <a:ext cx="3517706" cy="833438"/>
            <a:chOff x="0" y="0"/>
            <a:chExt cx="4690275" cy="1111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0237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237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221" y="0"/>
                  </a:lnTo>
                  <a:cubicBezTo>
                    <a:pt x="4632960" y="0"/>
                    <a:pt x="4690237" y="57277"/>
                    <a:pt x="4690237" y="128016"/>
                  </a:cubicBezTo>
                  <a:lnTo>
                    <a:pt x="4690237" y="983234"/>
                  </a:lnTo>
                  <a:cubicBezTo>
                    <a:pt x="4690237" y="1053973"/>
                    <a:pt x="4632960" y="1111250"/>
                    <a:pt x="4562221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84427" y="2783834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Order ID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32324" y="2553148"/>
            <a:ext cx="3517849" cy="833438"/>
            <a:chOff x="0" y="0"/>
            <a:chExt cx="4690466" cy="1111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0491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491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475" y="0"/>
                  </a:lnTo>
                  <a:cubicBezTo>
                    <a:pt x="4633214" y="0"/>
                    <a:pt x="4690491" y="57277"/>
                    <a:pt x="4690491" y="128016"/>
                  </a:cubicBezTo>
                  <a:lnTo>
                    <a:pt x="4690491" y="983234"/>
                  </a:lnTo>
                  <a:cubicBezTo>
                    <a:pt x="4690491" y="1053973"/>
                    <a:pt x="4633214" y="1111250"/>
                    <a:pt x="4562475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272535" y="2783834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Product Name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4216" y="3556987"/>
            <a:ext cx="3517706" cy="833438"/>
            <a:chOff x="0" y="0"/>
            <a:chExt cx="4690275" cy="111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90237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237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221" y="0"/>
                  </a:lnTo>
                  <a:cubicBezTo>
                    <a:pt x="4632960" y="0"/>
                    <a:pt x="4690237" y="57277"/>
                    <a:pt x="4690237" y="128016"/>
                  </a:cubicBezTo>
                  <a:lnTo>
                    <a:pt x="4690237" y="983234"/>
                  </a:lnTo>
                  <a:cubicBezTo>
                    <a:pt x="4690237" y="1053973"/>
                    <a:pt x="4632960" y="1111250"/>
                    <a:pt x="4562221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584427" y="3787673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Category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32324" y="3556987"/>
            <a:ext cx="3517849" cy="833438"/>
            <a:chOff x="0" y="0"/>
            <a:chExt cx="4690466" cy="1111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90491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491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475" y="0"/>
                  </a:lnTo>
                  <a:cubicBezTo>
                    <a:pt x="4633214" y="0"/>
                    <a:pt x="4690491" y="57277"/>
                    <a:pt x="4690491" y="128016"/>
                  </a:cubicBezTo>
                  <a:lnTo>
                    <a:pt x="4690491" y="983234"/>
                  </a:lnTo>
                  <a:cubicBezTo>
                    <a:pt x="4690491" y="1053973"/>
                    <a:pt x="4633214" y="1111250"/>
                    <a:pt x="4562475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272535" y="3787673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Region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4216" y="4560837"/>
            <a:ext cx="3517706" cy="833438"/>
            <a:chOff x="0" y="0"/>
            <a:chExt cx="4690275" cy="1111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0237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237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221" y="0"/>
                  </a:lnTo>
                  <a:cubicBezTo>
                    <a:pt x="4632960" y="0"/>
                    <a:pt x="4690237" y="57277"/>
                    <a:pt x="4690237" y="128016"/>
                  </a:cubicBezTo>
                  <a:lnTo>
                    <a:pt x="4690237" y="983234"/>
                  </a:lnTo>
                  <a:cubicBezTo>
                    <a:pt x="4690237" y="1053973"/>
                    <a:pt x="4632960" y="1111250"/>
                    <a:pt x="4562221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584427" y="4791523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Sales Amount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32324" y="4560837"/>
            <a:ext cx="3517849" cy="833438"/>
            <a:chOff x="0" y="0"/>
            <a:chExt cx="4690466" cy="1111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90491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491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475" y="0"/>
                  </a:lnTo>
                  <a:cubicBezTo>
                    <a:pt x="4633214" y="0"/>
                    <a:pt x="4690491" y="57277"/>
                    <a:pt x="4690491" y="128016"/>
                  </a:cubicBezTo>
                  <a:lnTo>
                    <a:pt x="4690491" y="983234"/>
                  </a:lnTo>
                  <a:cubicBezTo>
                    <a:pt x="4690491" y="1053973"/>
                    <a:pt x="4633214" y="1111250"/>
                    <a:pt x="4562475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272535" y="4791523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Profit Amount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44216" y="5564686"/>
            <a:ext cx="3517706" cy="833438"/>
            <a:chOff x="0" y="0"/>
            <a:chExt cx="4690275" cy="1111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0237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237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221" y="0"/>
                  </a:lnTo>
                  <a:cubicBezTo>
                    <a:pt x="4632960" y="0"/>
                    <a:pt x="4690237" y="57277"/>
                    <a:pt x="4690237" y="128016"/>
                  </a:cubicBezTo>
                  <a:lnTo>
                    <a:pt x="4690237" y="983234"/>
                  </a:lnTo>
                  <a:cubicBezTo>
                    <a:pt x="4690237" y="1053973"/>
                    <a:pt x="4632960" y="1111250"/>
                    <a:pt x="4562221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584427" y="5795362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Customer Rating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032324" y="5564686"/>
            <a:ext cx="3517849" cy="833438"/>
            <a:chOff x="0" y="0"/>
            <a:chExt cx="4690466" cy="1111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90491" cy="1111250"/>
            </a:xfrm>
            <a:custGeom>
              <a:avLst/>
              <a:gdLst/>
              <a:ahLst/>
              <a:cxnLst/>
              <a:rect r="r" b="b" t="t" l="l"/>
              <a:pathLst>
                <a:path h="1111250" w="4690491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4562475" y="0"/>
                  </a:lnTo>
                  <a:cubicBezTo>
                    <a:pt x="4633214" y="0"/>
                    <a:pt x="4690491" y="57277"/>
                    <a:pt x="4690491" y="128016"/>
                  </a:cubicBezTo>
                  <a:lnTo>
                    <a:pt x="4690491" y="983234"/>
                  </a:lnTo>
                  <a:cubicBezTo>
                    <a:pt x="4690491" y="1053973"/>
                    <a:pt x="4633214" y="1111250"/>
                    <a:pt x="4562475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5272535" y="5795362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Payment Method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4216" y="6568526"/>
            <a:ext cx="7205958" cy="833438"/>
            <a:chOff x="0" y="0"/>
            <a:chExt cx="9607944" cy="1111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07931" cy="1111250"/>
            </a:xfrm>
            <a:custGeom>
              <a:avLst/>
              <a:gdLst/>
              <a:ahLst/>
              <a:cxnLst/>
              <a:rect r="r" b="b" t="t" l="l"/>
              <a:pathLst>
                <a:path h="1111250" w="9607931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9479915" y="0"/>
                  </a:lnTo>
                  <a:cubicBezTo>
                    <a:pt x="9550654" y="0"/>
                    <a:pt x="9607931" y="57277"/>
                    <a:pt x="9607931" y="128016"/>
                  </a:cubicBezTo>
                  <a:lnTo>
                    <a:pt x="9607931" y="983234"/>
                  </a:lnTo>
                  <a:cubicBezTo>
                    <a:pt x="9607931" y="1053973"/>
                    <a:pt x="9550654" y="1111250"/>
                    <a:pt x="9479915" y="1111250"/>
                  </a:cubicBezTo>
                  <a:lnTo>
                    <a:pt x="128016" y="1111250"/>
                  </a:lnTo>
                  <a:cubicBezTo>
                    <a:pt x="57277" y="1111250"/>
                    <a:pt x="0" y="1053973"/>
                    <a:pt x="0" y="983234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584427" y="6799212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Order Date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06195" y="1992954"/>
            <a:ext cx="37385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Tools &amp; Techniques</a:t>
            </a:r>
          </a:p>
        </p:txBody>
      </p:sp>
      <p:sp>
        <p:nvSpPr>
          <p:cNvPr name="Freeform 36" id="36" descr="preencoded.png"/>
          <p:cNvSpPr/>
          <p:nvPr/>
        </p:nvSpPr>
        <p:spPr>
          <a:xfrm flipH="false" flipV="false" rot="0">
            <a:off x="9106195" y="2557910"/>
            <a:ext cx="7842056" cy="1998459"/>
          </a:xfrm>
          <a:custGeom>
            <a:avLst/>
            <a:gdLst/>
            <a:ahLst/>
            <a:cxnLst/>
            <a:rect r="r" b="b" t="t" l="l"/>
            <a:pathLst>
              <a:path h="1998459" w="7842056">
                <a:moveTo>
                  <a:pt x="0" y="0"/>
                </a:moveTo>
                <a:lnTo>
                  <a:pt x="7842057" y="0"/>
                </a:lnTo>
                <a:lnTo>
                  <a:pt x="7842057" y="1998459"/>
                </a:lnTo>
                <a:lnTo>
                  <a:pt x="0" y="1998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" r="0" b="-3"/>
            </a:stretch>
          </a:blipFill>
        </p:spPr>
      </p:sp>
      <p:sp>
        <p:nvSpPr>
          <p:cNvPr name="Freeform 37" id="37" descr="preencoded.png"/>
          <p:cNvSpPr/>
          <p:nvPr/>
        </p:nvSpPr>
        <p:spPr>
          <a:xfrm flipH="false" flipV="false" rot="0">
            <a:off x="12857712" y="2751087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0" y="0"/>
                </a:lnTo>
                <a:lnTo>
                  <a:pt x="338880" y="338880"/>
                </a:lnTo>
                <a:lnTo>
                  <a:pt x="0" y="338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945" r="0" b="-6945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360694" y="3434658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Microsoft Excel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60694" y="3939035"/>
            <a:ext cx="733305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Pivot Tables and Pivot Charts for data aggregation and visualization.</a:t>
            </a:r>
          </a:p>
        </p:txBody>
      </p:sp>
      <p:sp>
        <p:nvSpPr>
          <p:cNvPr name="Freeform 40" id="40" descr="preencoded.png"/>
          <p:cNvSpPr/>
          <p:nvPr/>
        </p:nvSpPr>
        <p:spPr>
          <a:xfrm flipH="false" flipV="false" rot="0">
            <a:off x="9106195" y="4736306"/>
            <a:ext cx="7842056" cy="1998459"/>
          </a:xfrm>
          <a:custGeom>
            <a:avLst/>
            <a:gdLst/>
            <a:ahLst/>
            <a:cxnLst/>
            <a:rect r="r" b="b" t="t" l="l"/>
            <a:pathLst>
              <a:path h="1998459" w="7842056">
                <a:moveTo>
                  <a:pt x="0" y="0"/>
                </a:moveTo>
                <a:lnTo>
                  <a:pt x="7842057" y="0"/>
                </a:lnTo>
                <a:lnTo>
                  <a:pt x="7842057" y="1998460"/>
                </a:lnTo>
                <a:lnTo>
                  <a:pt x="0" y="1998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" r="0" b="-3"/>
            </a:stretch>
          </a:blipFill>
        </p:spPr>
      </p:sp>
      <p:sp>
        <p:nvSpPr>
          <p:cNvPr name="Freeform 41" id="41" descr="preencoded.png"/>
          <p:cNvSpPr/>
          <p:nvPr/>
        </p:nvSpPr>
        <p:spPr>
          <a:xfrm flipH="false" flipV="false" rot="0">
            <a:off x="12857712" y="4929483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0" y="0"/>
                </a:lnTo>
                <a:lnTo>
                  <a:pt x="338880" y="338880"/>
                </a:lnTo>
                <a:lnTo>
                  <a:pt x="0" y="338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60694" y="5613054"/>
            <a:ext cx="2824162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Dashboard Design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60694" y="6117431"/>
            <a:ext cx="7333059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layouts with filters, KPIs, and visual summaries.</a:t>
            </a:r>
          </a:p>
        </p:txBody>
      </p:sp>
      <p:sp>
        <p:nvSpPr>
          <p:cNvPr name="Freeform 44" id="44" descr="preencoded.png"/>
          <p:cNvSpPr/>
          <p:nvPr/>
        </p:nvSpPr>
        <p:spPr>
          <a:xfrm flipH="false" flipV="false" rot="0">
            <a:off x="9106195" y="6914702"/>
            <a:ext cx="7842056" cy="2323205"/>
          </a:xfrm>
          <a:custGeom>
            <a:avLst/>
            <a:gdLst/>
            <a:ahLst/>
            <a:cxnLst/>
            <a:rect r="r" b="b" t="t" l="l"/>
            <a:pathLst>
              <a:path h="2323205" w="7842056">
                <a:moveTo>
                  <a:pt x="0" y="0"/>
                </a:moveTo>
                <a:lnTo>
                  <a:pt x="7842057" y="0"/>
                </a:lnTo>
                <a:lnTo>
                  <a:pt x="7842057" y="2323205"/>
                </a:lnTo>
                <a:lnTo>
                  <a:pt x="0" y="23232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2" t="0" r="-22" b="0"/>
            </a:stretch>
          </a:blipFill>
        </p:spPr>
      </p:sp>
      <p:sp>
        <p:nvSpPr>
          <p:cNvPr name="Freeform 45" id="45" descr="preencoded.png"/>
          <p:cNvSpPr/>
          <p:nvPr/>
        </p:nvSpPr>
        <p:spPr>
          <a:xfrm flipH="false" flipV="false" rot="0">
            <a:off x="12857712" y="7107879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0" y="0"/>
                </a:lnTo>
                <a:lnTo>
                  <a:pt x="338880" y="338880"/>
                </a:lnTo>
                <a:lnTo>
                  <a:pt x="0" y="3388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388" r="0" b="-1388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360694" y="7791450"/>
            <a:ext cx="3069584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Analytical Techniques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60694" y="8295827"/>
            <a:ext cx="7333059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Trend, category, regional, profitability, and customer behavior analysis.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3106"/>
            <a:ext cx="10566949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Performance Indicators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89432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dashboard captures five core KPIs providing a quick health check of Flipkart's sales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53228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₹75.2M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9275" y="46697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Sales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206603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Aggregate revenue across all 1,000 orders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4866" y="353228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₹15.0M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71902" y="46697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Profit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5206603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 profit generated across all categories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7493" y="353228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1,000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4530" y="46697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Orders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3" y="5206603"/>
            <a:ext cx="51982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 in the analyzed 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68481" y="7051177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₹75.2K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95517" y="818867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Average Sale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68481" y="8725491"/>
            <a:ext cx="51982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transaction value per order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1108" y="7051177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3.0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8145" y="818867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Avg. Rating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108" y="8725491"/>
            <a:ext cx="51982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Mean customer satisfaction score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26909"/>
            <a:ext cx="10861472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Sales &amp; Profit Trend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676077"/>
            <a:ext cx="9505350" cy="6245866"/>
            <a:chOff x="0" y="0"/>
            <a:chExt cx="12673800" cy="83278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673838" cy="8327771"/>
            </a:xfrm>
            <a:custGeom>
              <a:avLst/>
              <a:gdLst/>
              <a:ahLst/>
              <a:cxnLst/>
              <a:rect r="r" b="b" t="t" l="l"/>
              <a:pathLst>
                <a:path h="8327771" w="12673838">
                  <a:moveTo>
                    <a:pt x="0" y="0"/>
                  </a:moveTo>
                  <a:lnTo>
                    <a:pt x="12673838" y="0"/>
                  </a:lnTo>
                  <a:lnTo>
                    <a:pt x="12673838" y="8327771"/>
                  </a:lnTo>
                  <a:lnTo>
                    <a:pt x="0" y="8327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98866" y="2631129"/>
            <a:ext cx="571187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Monthly Sales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98866" y="3281363"/>
            <a:ext cx="6106268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July recorded the highest sales at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₹7.6M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while June saw the lowest at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₹5.0M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a 52% swing. Monthly profit ranged from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₹0.99M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₹1.5M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with July also leading in profitability.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198866" y="5500535"/>
            <a:ext cx="6106268" cy="2466384"/>
            <a:chOff x="0" y="0"/>
            <a:chExt cx="8141691" cy="328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41716" cy="3288538"/>
            </a:xfrm>
            <a:custGeom>
              <a:avLst/>
              <a:gdLst/>
              <a:ahLst/>
              <a:cxnLst/>
              <a:rect r="r" b="b" t="t" l="l"/>
              <a:pathLst>
                <a:path h="3288538" w="814171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982966" y="0"/>
                  </a:lnTo>
                  <a:cubicBezTo>
                    <a:pt x="8070597" y="0"/>
                    <a:pt x="8141716" y="71120"/>
                    <a:pt x="8141716" y="158750"/>
                  </a:cubicBezTo>
                  <a:lnTo>
                    <a:pt x="8141716" y="3129788"/>
                  </a:lnTo>
                  <a:cubicBezTo>
                    <a:pt x="8141716" y="3217418"/>
                    <a:pt x="8070597" y="3288538"/>
                    <a:pt x="7982966" y="3288538"/>
                  </a:cubicBezTo>
                  <a:lnTo>
                    <a:pt x="158750" y="3288538"/>
                  </a:lnTo>
                  <a:cubicBezTo>
                    <a:pt x="71120" y="3288538"/>
                    <a:pt x="0" y="3217418"/>
                    <a:pt x="0" y="3129788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82388" y="5930656"/>
            <a:ext cx="354359" cy="283521"/>
            <a:chOff x="0" y="0"/>
            <a:chExt cx="472478" cy="37802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t="0" r="-680" b="1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120267" y="5740746"/>
            <a:ext cx="490135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Insight: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mid-year dip in June presents a clear opportunity for targeted promotional campaigns to sustain revenue momentum.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8401"/>
            <a:ext cx="10925623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Category &amp; Product Performance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132114"/>
            <a:ext cx="8694544" cy="5967117"/>
            <a:chOff x="0" y="0"/>
            <a:chExt cx="11592725" cy="79561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592687" cy="7956169"/>
            </a:xfrm>
            <a:custGeom>
              <a:avLst/>
              <a:gdLst/>
              <a:ahLst/>
              <a:cxnLst/>
              <a:rect r="r" b="b" t="t" l="l"/>
              <a:pathLst>
                <a:path h="7956169" w="11592687">
                  <a:moveTo>
                    <a:pt x="0" y="0"/>
                  </a:moveTo>
                  <a:lnTo>
                    <a:pt x="11592687" y="0"/>
                  </a:lnTo>
                  <a:lnTo>
                    <a:pt x="11592687" y="7956169"/>
                  </a:lnTo>
                  <a:lnTo>
                    <a:pt x="0" y="7956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" r="0" b="-3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01440" y="2095500"/>
            <a:ext cx="4098284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Category Breakdown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1440" y="2652560"/>
            <a:ext cx="7003704" cy="154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Electronics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dominates both revenue and profit, contributing over 37% of total sales. </a:t>
            </a:r>
            <a:r>
              <a:rPr lang="en-US" sz="19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Clothing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holds a strong second place. Beauty and Books show moderate performance, while Home &amp; Kitchen lags behind.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1440" y="4405465"/>
            <a:ext cx="4309472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Top Revenue Products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8582616"/>
            <a:ext cx="5299319" cy="921696"/>
            <a:chOff x="0" y="0"/>
            <a:chExt cx="7065759" cy="12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5772" cy="1228852"/>
            </a:xfrm>
            <a:custGeom>
              <a:avLst/>
              <a:gdLst/>
              <a:ahLst/>
              <a:cxnLst/>
              <a:rect r="r" b="b" t="t" l="l"/>
              <a:pathLst>
                <a:path h="1228852" w="7065772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6925437" y="0"/>
                  </a:lnTo>
                  <a:cubicBezTo>
                    <a:pt x="7002907" y="0"/>
                    <a:pt x="7065772" y="62865"/>
                    <a:pt x="7065772" y="140335"/>
                  </a:cubicBezTo>
                  <a:lnTo>
                    <a:pt x="7065772" y="1088517"/>
                  </a:lnTo>
                  <a:cubicBezTo>
                    <a:pt x="7065772" y="1165987"/>
                    <a:pt x="7002907" y="1228852"/>
                    <a:pt x="6925437" y="1228852"/>
                  </a:cubicBezTo>
                  <a:lnTo>
                    <a:pt x="140335" y="1228852"/>
                  </a:lnTo>
                  <a:cubicBezTo>
                    <a:pt x="62865" y="1228979"/>
                    <a:pt x="0" y="1166114"/>
                    <a:pt x="0" y="10885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49709" y="8835333"/>
            <a:ext cx="3258588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📘</a:t>
            </a: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Educational Books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4259" y="8582616"/>
            <a:ext cx="5299319" cy="921696"/>
            <a:chOff x="0" y="0"/>
            <a:chExt cx="7065759" cy="1228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5772" cy="1228852"/>
            </a:xfrm>
            <a:custGeom>
              <a:avLst/>
              <a:gdLst/>
              <a:ahLst/>
              <a:cxnLst/>
              <a:rect r="r" b="b" t="t" l="l"/>
              <a:pathLst>
                <a:path h="1228852" w="7065772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6925437" y="0"/>
                  </a:lnTo>
                  <a:cubicBezTo>
                    <a:pt x="7002907" y="0"/>
                    <a:pt x="7065772" y="62865"/>
                    <a:pt x="7065772" y="140335"/>
                  </a:cubicBezTo>
                  <a:lnTo>
                    <a:pt x="7065772" y="1088517"/>
                  </a:lnTo>
                  <a:cubicBezTo>
                    <a:pt x="7065772" y="1165987"/>
                    <a:pt x="7002907" y="1228852"/>
                    <a:pt x="6925437" y="1228852"/>
                  </a:cubicBezTo>
                  <a:lnTo>
                    <a:pt x="140335" y="1228852"/>
                  </a:lnTo>
                  <a:cubicBezTo>
                    <a:pt x="62865" y="1228979"/>
                    <a:pt x="0" y="1166114"/>
                    <a:pt x="0" y="10885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756502" y="8835333"/>
            <a:ext cx="310113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💻</a:t>
            </a: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Laptop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01052" y="8582616"/>
            <a:ext cx="5299319" cy="921696"/>
            <a:chOff x="0" y="0"/>
            <a:chExt cx="7065759" cy="1228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5772" cy="1228852"/>
            </a:xfrm>
            <a:custGeom>
              <a:avLst/>
              <a:gdLst/>
              <a:ahLst/>
              <a:cxnLst/>
              <a:rect r="r" b="b" t="t" l="l"/>
              <a:pathLst>
                <a:path h="1228852" w="7065772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6925437" y="0"/>
                  </a:lnTo>
                  <a:cubicBezTo>
                    <a:pt x="7002907" y="0"/>
                    <a:pt x="7065772" y="62865"/>
                    <a:pt x="7065772" y="140335"/>
                  </a:cubicBezTo>
                  <a:lnTo>
                    <a:pt x="7065772" y="1088517"/>
                  </a:lnTo>
                  <a:cubicBezTo>
                    <a:pt x="7065772" y="1165987"/>
                    <a:pt x="7002907" y="1228852"/>
                    <a:pt x="6925437" y="1228852"/>
                  </a:cubicBezTo>
                  <a:lnTo>
                    <a:pt x="140335" y="1228852"/>
                  </a:lnTo>
                  <a:cubicBezTo>
                    <a:pt x="62865" y="1228979"/>
                    <a:pt x="0" y="1166114"/>
                    <a:pt x="0" y="1088517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263285" y="8835333"/>
            <a:ext cx="310113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💡</a:t>
            </a:r>
            <a:r>
              <a:rPr lang="en-US" sz="24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Table Lamp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179757"/>
            <a:ext cx="1296516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Regional Sales &amp; Customer Ratings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828925"/>
            <a:ext cx="8655548" cy="5940323"/>
            <a:chOff x="0" y="0"/>
            <a:chExt cx="11540731" cy="79204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1540744" cy="7920482"/>
            </a:xfrm>
            <a:custGeom>
              <a:avLst/>
              <a:gdLst/>
              <a:ahLst/>
              <a:cxnLst/>
              <a:rect r="r" b="b" t="t" l="l"/>
              <a:pathLst>
                <a:path h="7920482" w="11540744">
                  <a:moveTo>
                    <a:pt x="0" y="0"/>
                  </a:moveTo>
                  <a:lnTo>
                    <a:pt x="11540744" y="0"/>
                  </a:lnTo>
                  <a:lnTo>
                    <a:pt x="11540744" y="7920482"/>
                  </a:lnTo>
                  <a:lnTo>
                    <a:pt x="0" y="7920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" r="0" b="-1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349065" y="2783977"/>
            <a:ext cx="475178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Regional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9065" y="3434210"/>
            <a:ext cx="695607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North Region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leads with ₹20.3M in sales, closely followed by South (₹19.9M). East contributes the least at ₹16.7M — a 22% gap versus North, signaling untapped potential.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49065" y="5608434"/>
            <a:ext cx="621312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Customer Ratings by Category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9065" y="6258668"/>
            <a:ext cx="695607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Overall average: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3.0 / 5.0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Books and Home &amp; Kitchen received the highest ratings, while Beauty scored the lowest — a clear area for quality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83141" y="790575"/>
            <a:ext cx="8525323" cy="55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Payment Preferences &amp; Key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183141" y="1625651"/>
            <a:ext cx="5750128" cy="4138908"/>
            <a:chOff x="0" y="0"/>
            <a:chExt cx="7666838" cy="551854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666863" cy="5518531"/>
            </a:xfrm>
            <a:custGeom>
              <a:avLst/>
              <a:gdLst/>
              <a:ahLst/>
              <a:cxnLst/>
              <a:rect r="r" b="b" t="t" l="l"/>
              <a:pathLst>
                <a:path h="5518531" w="7666863">
                  <a:moveTo>
                    <a:pt x="0" y="0"/>
                  </a:moveTo>
                  <a:lnTo>
                    <a:pt x="7666863" y="0"/>
                  </a:lnTo>
                  <a:lnTo>
                    <a:pt x="7666863" y="5518531"/>
                  </a:lnTo>
                  <a:lnTo>
                    <a:pt x="0" y="5518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" r="0" b="-2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64266" y="1603029"/>
            <a:ext cx="3074041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Payment Behavior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64266" y="1978076"/>
            <a:ext cx="5750128" cy="67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UPI dominates</a:t>
            </a: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38% of transactions, reflecting India's digital payment shift. Wallet and Debit Card remain popular; Credit Card usage is comparatively lower.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4266" y="2750344"/>
            <a:ext cx="3222279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Business Insights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3247873" y="6009684"/>
            <a:ext cx="259109" cy="259109"/>
          </a:xfrm>
          <a:custGeom>
            <a:avLst/>
            <a:gdLst/>
            <a:ahLst/>
            <a:cxnLst/>
            <a:rect r="r" b="b" t="t" l="l"/>
            <a:pathLst>
              <a:path h="259109" w="259109">
                <a:moveTo>
                  <a:pt x="0" y="0"/>
                </a:moveTo>
                <a:lnTo>
                  <a:pt x="259108" y="0"/>
                </a:lnTo>
                <a:lnTo>
                  <a:pt x="259108" y="259109"/>
                </a:lnTo>
                <a:lnTo>
                  <a:pt x="0" y="259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44516" y="5991673"/>
            <a:ext cx="1136034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Electronics is the top revenue and profit driver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3247873" y="6746977"/>
            <a:ext cx="259109" cy="259109"/>
          </a:xfrm>
          <a:custGeom>
            <a:avLst/>
            <a:gdLst/>
            <a:ahLst/>
            <a:cxnLst/>
            <a:rect r="r" b="b" t="t" l="l"/>
            <a:pathLst>
              <a:path h="259109" w="259109">
                <a:moveTo>
                  <a:pt x="0" y="0"/>
                </a:moveTo>
                <a:lnTo>
                  <a:pt x="259108" y="0"/>
                </a:lnTo>
                <a:lnTo>
                  <a:pt x="259108" y="259108"/>
                </a:lnTo>
                <a:lnTo>
                  <a:pt x="0" y="25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744516" y="6728965"/>
            <a:ext cx="1136034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North Region contributes the highest sales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3247873" y="7484269"/>
            <a:ext cx="259109" cy="259109"/>
          </a:xfrm>
          <a:custGeom>
            <a:avLst/>
            <a:gdLst/>
            <a:ahLst/>
            <a:cxnLst/>
            <a:rect r="r" b="b" t="t" l="l"/>
            <a:pathLst>
              <a:path h="259109" w="259109">
                <a:moveTo>
                  <a:pt x="0" y="0"/>
                </a:moveTo>
                <a:lnTo>
                  <a:pt x="259108" y="0"/>
                </a:lnTo>
                <a:lnTo>
                  <a:pt x="259108" y="259108"/>
                </a:lnTo>
                <a:lnTo>
                  <a:pt x="0" y="25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744516" y="7466257"/>
            <a:ext cx="1136034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July is the strongest sales month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3247873" y="8221561"/>
            <a:ext cx="259109" cy="259109"/>
          </a:xfrm>
          <a:custGeom>
            <a:avLst/>
            <a:gdLst/>
            <a:ahLst/>
            <a:cxnLst/>
            <a:rect r="r" b="b" t="t" l="l"/>
            <a:pathLst>
              <a:path h="259109" w="259109">
                <a:moveTo>
                  <a:pt x="0" y="0"/>
                </a:moveTo>
                <a:lnTo>
                  <a:pt x="259108" y="0"/>
                </a:lnTo>
                <a:lnTo>
                  <a:pt x="259108" y="259108"/>
                </a:lnTo>
                <a:lnTo>
                  <a:pt x="0" y="25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744516" y="8203559"/>
            <a:ext cx="1136034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UPI dominates customer transactions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3247873" y="8958863"/>
            <a:ext cx="259109" cy="259109"/>
          </a:xfrm>
          <a:custGeom>
            <a:avLst/>
            <a:gdLst/>
            <a:ahLst/>
            <a:cxnLst/>
            <a:rect r="r" b="b" t="t" l="l"/>
            <a:pathLst>
              <a:path h="259109" w="259109">
                <a:moveTo>
                  <a:pt x="0" y="0"/>
                </a:moveTo>
                <a:lnTo>
                  <a:pt x="259108" y="0"/>
                </a:lnTo>
                <a:lnTo>
                  <a:pt x="259108" y="259108"/>
                </a:lnTo>
                <a:lnTo>
                  <a:pt x="0" y="259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744516" y="8940851"/>
            <a:ext cx="1136034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 ratings indicate improvement opportunities in some categories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9202"/>
            <a:ext cx="1211178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Recommendations &amp;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476500"/>
            <a:ext cx="5254971" cy="2115893"/>
            <a:chOff x="0" y="0"/>
            <a:chExt cx="7006628" cy="2821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06590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90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47078" y="0"/>
                  </a:lnTo>
                  <a:cubicBezTo>
                    <a:pt x="6935216" y="0"/>
                    <a:pt x="7006590" y="71374"/>
                    <a:pt x="7006590" y="159512"/>
                  </a:cubicBezTo>
                  <a:lnTo>
                    <a:pt x="7006590" y="2661666"/>
                  </a:lnTo>
                  <a:cubicBezTo>
                    <a:pt x="7006590" y="2749804"/>
                    <a:pt x="6935216" y="2821178"/>
                    <a:pt x="6847078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85284" y="2764784"/>
            <a:ext cx="384214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📦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Expand Electronics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284" y="3301603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Increase inventory and promotions for the highest-revenue category.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16443" y="2476500"/>
            <a:ext cx="5254971" cy="2115893"/>
            <a:chOff x="0" y="0"/>
            <a:chExt cx="7006628" cy="2821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6590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90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47078" y="0"/>
                  </a:lnTo>
                  <a:cubicBezTo>
                    <a:pt x="6935216" y="0"/>
                    <a:pt x="7006590" y="71374"/>
                    <a:pt x="7006590" y="159512"/>
                  </a:cubicBezTo>
                  <a:lnTo>
                    <a:pt x="7006590" y="2661666"/>
                  </a:lnTo>
                  <a:cubicBezTo>
                    <a:pt x="7006590" y="2749804"/>
                    <a:pt x="6935216" y="2821178"/>
                    <a:pt x="6847078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14242" y="27647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⭐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Improve Ratings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4242" y="3301603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Address quality gaps in Beauty and lower-rated categories.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45401" y="2476500"/>
            <a:ext cx="5254971" cy="2115893"/>
            <a:chOff x="0" y="0"/>
            <a:chExt cx="7006628" cy="2821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590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590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47078" y="0"/>
                  </a:lnTo>
                  <a:cubicBezTo>
                    <a:pt x="6935216" y="0"/>
                    <a:pt x="7006590" y="71374"/>
                    <a:pt x="7006590" y="159512"/>
                  </a:cubicBezTo>
                  <a:lnTo>
                    <a:pt x="7006590" y="2661666"/>
                  </a:lnTo>
                  <a:cubicBezTo>
                    <a:pt x="7006590" y="2749804"/>
                    <a:pt x="6935216" y="2821178"/>
                    <a:pt x="6847078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3209" y="2764784"/>
            <a:ext cx="393933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🗺️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Strengthen Regions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3209" y="3301603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Target marketing in East and West to close the regional gap.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6" y="4866380"/>
            <a:ext cx="8019459" cy="1662265"/>
            <a:chOff x="0" y="0"/>
            <a:chExt cx="10692613" cy="22163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2511" cy="2216277"/>
            </a:xfrm>
            <a:custGeom>
              <a:avLst/>
              <a:gdLst/>
              <a:ahLst/>
              <a:cxnLst/>
              <a:rect r="r" b="b" t="t" l="l"/>
              <a:pathLst>
                <a:path h="2216277" w="10692511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32872" y="0"/>
                  </a:lnTo>
                  <a:cubicBezTo>
                    <a:pt x="10621010" y="0"/>
                    <a:pt x="10692511" y="71501"/>
                    <a:pt x="10692511" y="159639"/>
                  </a:cubicBezTo>
                  <a:lnTo>
                    <a:pt x="10692511" y="2056638"/>
                  </a:lnTo>
                  <a:cubicBezTo>
                    <a:pt x="10692511" y="2144776"/>
                    <a:pt x="10621010" y="2216277"/>
                    <a:pt x="10532872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5284" y="5154663"/>
            <a:ext cx="497577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💳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Promote Digital Payments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284" y="5691483"/>
            <a:ext cx="742384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UPI and wallet incentives to boost conversion.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0922" y="4866380"/>
            <a:ext cx="8019459" cy="1662265"/>
            <a:chOff x="0" y="0"/>
            <a:chExt cx="10692613" cy="22163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2511" cy="2216277"/>
            </a:xfrm>
            <a:custGeom>
              <a:avLst/>
              <a:gdLst/>
              <a:ahLst/>
              <a:cxnLst/>
              <a:rect r="r" b="b" t="t" l="l"/>
              <a:pathLst>
                <a:path h="2216277" w="10692511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32872" y="0"/>
                  </a:lnTo>
                  <a:cubicBezTo>
                    <a:pt x="10621010" y="0"/>
                    <a:pt x="10692511" y="71501"/>
                    <a:pt x="10692511" y="159639"/>
                  </a:cubicBezTo>
                  <a:lnTo>
                    <a:pt x="10692511" y="2056638"/>
                  </a:lnTo>
                  <a:cubicBezTo>
                    <a:pt x="10692511" y="2144776"/>
                    <a:pt x="10621010" y="2216277"/>
                    <a:pt x="10532872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578731" y="515466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🔁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Drive Retention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31" y="5691483"/>
            <a:ext cx="742384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Introduce loyalty programs and personalized offers.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238" y="6842817"/>
            <a:ext cx="38100" cy="1545136"/>
            <a:chOff x="0" y="0"/>
            <a:chExt cx="50800" cy="20601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" cy="2060194"/>
            </a:xfrm>
            <a:custGeom>
              <a:avLst/>
              <a:gdLst/>
              <a:ahLst/>
              <a:cxnLst/>
              <a:rect r="r" b="b" t="t" l="l"/>
              <a:pathLst>
                <a:path h="2060194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4794"/>
                  </a:lnTo>
                  <a:cubicBezTo>
                    <a:pt x="50800" y="2048764"/>
                    <a:pt x="39370" y="2060194"/>
                    <a:pt x="25400" y="2060194"/>
                  </a:cubicBezTo>
                  <a:cubicBezTo>
                    <a:pt x="11430" y="2060194"/>
                    <a:pt x="0" y="2048764"/>
                    <a:pt x="0" y="203479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17444" y="7076037"/>
            <a:ext cx="158783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dashboard delivers a comprehensive view of sales, profit, customer behavior, products, and regions — enabling data-driven decisions and business growth.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7476" y="8702126"/>
            <a:ext cx="1715100" cy="561384"/>
            <a:chOff x="0" y="0"/>
            <a:chExt cx="2286800" cy="7485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6762" cy="748411"/>
            </a:xfrm>
            <a:custGeom>
              <a:avLst/>
              <a:gdLst/>
              <a:ahLst/>
              <a:cxnLst/>
              <a:rect r="r" b="b" t="t" l="l"/>
              <a:pathLst>
                <a:path h="748411" w="2286762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157603" y="0"/>
                  </a:lnTo>
                  <a:cubicBezTo>
                    <a:pt x="2228977" y="0"/>
                    <a:pt x="2286762" y="57912"/>
                    <a:pt x="2286762" y="129159"/>
                  </a:cubicBezTo>
                  <a:lnTo>
                    <a:pt x="2286762" y="619252"/>
                  </a:lnTo>
                  <a:cubicBezTo>
                    <a:pt x="2286762" y="690626"/>
                    <a:pt x="2228850" y="748411"/>
                    <a:pt x="2157603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0" r="-1" b="-9544"/>
              </a:stretch>
            </a:blipFill>
            <a:ln w="9526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71870" y="8734720"/>
            <a:ext cx="2260702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834726" y="8702126"/>
            <a:ext cx="3361582" cy="561384"/>
            <a:chOff x="0" y="0"/>
            <a:chExt cx="4482109" cy="7485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82084" cy="748411"/>
            </a:xfrm>
            <a:custGeom>
              <a:avLst/>
              <a:gdLst/>
              <a:ahLst/>
              <a:cxnLst/>
              <a:rect r="r" b="b" t="t" l="l"/>
              <a:pathLst>
                <a:path h="748411" w="4482084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4352925" y="0"/>
                  </a:lnTo>
                  <a:cubicBezTo>
                    <a:pt x="4424299" y="0"/>
                    <a:pt x="4482084" y="57912"/>
                    <a:pt x="4482084" y="129159"/>
                  </a:cubicBezTo>
                  <a:lnTo>
                    <a:pt x="4482084" y="619252"/>
                  </a:lnTo>
                  <a:cubicBezTo>
                    <a:pt x="4482084" y="690626"/>
                    <a:pt x="4424172" y="748411"/>
                    <a:pt x="4352925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85" r="0" b="-66699"/>
              </a:stretch>
            </a:blipFill>
            <a:ln w="9526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3019130" y="8734720"/>
            <a:ext cx="3907184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28467" y="8702126"/>
            <a:ext cx="1938195" cy="561384"/>
            <a:chOff x="0" y="0"/>
            <a:chExt cx="2584260" cy="74851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84196" cy="748411"/>
            </a:xfrm>
            <a:custGeom>
              <a:avLst/>
              <a:gdLst/>
              <a:ahLst/>
              <a:cxnLst/>
              <a:rect r="r" b="b" t="t" l="l"/>
              <a:pathLst>
                <a:path h="748411" w="2584196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455037" y="0"/>
                  </a:lnTo>
                  <a:cubicBezTo>
                    <a:pt x="2526411" y="0"/>
                    <a:pt x="2584196" y="57912"/>
                    <a:pt x="2584196" y="129159"/>
                  </a:cubicBezTo>
                  <a:lnTo>
                    <a:pt x="2584196" y="619252"/>
                  </a:lnTo>
                  <a:cubicBezTo>
                    <a:pt x="2584196" y="690626"/>
                    <a:pt x="2526284" y="748411"/>
                    <a:pt x="2455037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74" r="-2" b="-17288"/>
              </a:stretch>
            </a:blipFill>
            <a:ln w="9526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6512871" y="8734720"/>
            <a:ext cx="2483796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NAVEEN SAINI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DAHNRlAhKwI</dc:identifier>
  <dcterms:modified xsi:type="dcterms:W3CDTF">2011-08-01T06:04:30Z</dcterms:modified>
  <cp:revision>1</cp:revision>
  <dc:title>Flipkart-Sales-Analysis-Dashboard.pptx</dc:title>
</cp:coreProperties>
</file>